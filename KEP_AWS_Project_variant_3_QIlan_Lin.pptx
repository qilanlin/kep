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999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308" y="899368"/>
            <a:ext cx="6509385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Bef>
                <a:spcPts val="1500"/>
              </a:spcBef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Between Isabelle and External Provers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45605" y="2564160"/>
            <a:ext cx="30526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via Sledgehammer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354832" y="3505200"/>
            <a:ext cx="24341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 Project - Variation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54832" y="3908971"/>
            <a:ext cx="24341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Bef>
                <a:spcPts val="1500"/>
              </a:spcBef>
              <a:spcAft>
                <a:spcPts val="600"/>
              </a:spcAft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Qilan Lin</a:t>
            </a:r>
            <a:endParaRPr lang="en-US" sz="1050" dirty="0"/>
          </a:p>
          <a:p>
            <a:pPr marL="0" indent="0" algn="ctr">
              <a:lnSpc>
                <a:spcPts val="1470"/>
              </a:lnSpc>
              <a:spcBef>
                <a:spcPts val="1500"/>
              </a:spcBef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54832" y="4171801"/>
            <a:ext cx="24341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K21204786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3921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01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543050"/>
            <a:ext cx="83820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 is a powerful proof assistant, but some proofs require external automated reasoning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Sledgehammer acts as a bridge to external provers (e.g., Z3, CVC4, E)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between Isabelle and external tools needs optimization and verification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998291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3341191"/>
            <a:ext cx="83820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proof automation efficiency in formal verification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reliability of automated reasoning within theorem proving</a:t>
            </a:r>
            <a:endParaRPr lang="en-US" sz="1200" dirty="0"/>
          </a:p>
          <a:p>
            <a:pPr marL="142875" indent="-142875" algn="l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Advances the state of formal methods in software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52550"/>
            <a:ext cx="4129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901130"/>
            <a:ext cx="4048125" cy="17145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 between Isabelle and external provers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Sledgehammer's interface design and optimization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verification procedures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characteristics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14875" y="1466850"/>
            <a:ext cx="412908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14875" y="2015430"/>
            <a:ext cx="4048125" cy="1485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new prover algorithms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 of external prover implementations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strategy optimization beyond interface concerns</a:t>
            </a:r>
            <a:endParaRPr lang="en-US" sz="1125" dirty="0"/>
          </a:p>
          <a:p>
            <a:pPr marL="142875" indent="-142875" algn="l">
              <a:lnSpc>
                <a:spcPts val="1800"/>
              </a:lnSpc>
              <a:spcAft>
                <a:spcPts val="450"/>
              </a:spcAft>
              <a:buSzPct val="100000"/>
              <a:buChar char="•"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Isabelle framework redesign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&amp;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Aim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386780"/>
            <a:ext cx="854964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and optimize the interface between Isabelle and external automated provers through Sledgehammer.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1696343"/>
            <a:ext cx="8382000" cy="2420243"/>
          </a:xfrm>
          <a:prstGeom prst="roundRect">
            <a:avLst>
              <a:gd name="adj" fmla="val 118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696343"/>
            <a:ext cx="0" cy="242024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400" y="1943993"/>
            <a:ext cx="827760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2225873"/>
            <a:ext cx="8115300" cy="1700213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688"/>
              </a:lnSpc>
              <a:spcAft>
                <a:spcPts val="375"/>
              </a:spcAft>
              <a:buSzPct val="100000"/>
              <a:buChar char="•"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current interface architecture and design patterns</a:t>
            </a:r>
            <a:endParaRPr lang="en-US" sz="1125" dirty="0"/>
          </a:p>
          <a:p>
            <a:pPr marL="142875" indent="-142875" algn="l">
              <a:lnSpc>
                <a:spcPts val="1688"/>
              </a:lnSpc>
              <a:spcAft>
                <a:spcPts val="375"/>
              </a:spcAft>
              <a:buSzPct val="100000"/>
              <a:buChar char="•"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performance bottlenecks and optimization opportunities</a:t>
            </a:r>
            <a:endParaRPr lang="en-US" sz="1125" dirty="0"/>
          </a:p>
          <a:p>
            <a:pPr marL="142875" indent="-142875" algn="l">
              <a:lnSpc>
                <a:spcPts val="1688"/>
              </a:lnSpc>
              <a:spcAft>
                <a:spcPts val="375"/>
              </a:spcAft>
              <a:buSzPct val="100000"/>
              <a:buChar char="•"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 comprehensive test suites for reliability verification</a:t>
            </a:r>
            <a:endParaRPr lang="en-US" sz="1125" dirty="0"/>
          </a:p>
          <a:p>
            <a:pPr marL="142875" indent="-142875" algn="l">
              <a:lnSpc>
                <a:spcPts val="1688"/>
              </a:lnSpc>
              <a:spcAft>
                <a:spcPts val="375"/>
              </a:spcAft>
              <a:buSzPct val="100000"/>
              <a:buChar char="•"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Propose enhancements to the integration mechanism</a:t>
            </a:r>
            <a:endParaRPr lang="en-US" sz="1125" dirty="0"/>
          </a:p>
          <a:p>
            <a:pPr marL="142875" indent="-142875" algn="l">
              <a:lnSpc>
                <a:spcPts val="1688"/>
              </a:lnSpc>
              <a:spcAft>
                <a:spcPts val="375"/>
              </a:spcAft>
              <a:buSzPct val="100000"/>
              <a:buChar char="•"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Evaluate effectiveness of improvements through empirical testing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 Bibliography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References - Sledgehammer &amp; SMT Integration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283940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Blanchette, J.C., Böhme, S., Paulson, L.C. (2013). "Extending Sledgehammer with SMT Solvers." Journal of Automated Reasoning, 51(1): 109-128.</a:t>
            </a:r>
            <a:endParaRPr lang="en-US" sz="825" dirty="0"/>
          </a:p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Moura, L., &amp; Bjørner, N. (2008). "Z3: An Efficient SMT Solver." TACAS 2008, LNCS 4963: 337-340.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776264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 &amp; Proof Automation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993404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Nipkow, T., Paulson, L.C., &amp; Wenzel, M. (2002). "Isabelle/HOL: A Proof Assistant." Springer-Verlag, LNCS 2283.</a:t>
            </a:r>
            <a:endParaRPr lang="en-US" sz="825" dirty="0"/>
          </a:p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Blanchette, J.C. (2018). "Hammering Away: A Guide to Sledgehammer for Isabelle/HOL." TUM Institute.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48572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Methods 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02868"/>
            <a:ext cx="8382000" cy="39707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theorem proving and proof search strategies</a:t>
            </a:r>
            <a:endParaRPr lang="en-US" sz="825" dirty="0"/>
          </a:p>
          <a:p>
            <a:pPr marL="104775" indent="-104775" algn="l">
              <a:lnSpc>
                <a:spcPts val="1114"/>
              </a:lnSpc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 solver integration and backend prover selection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6062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Platform &amp; Technical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63861"/>
            <a:ext cx="8382000" cy="86469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Theorem prover and proof assistant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Sledgehammer: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Proof automation tool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Provers: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Z3, CVC4, E, SPASS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342852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601813"/>
            <a:ext cx="8382000" cy="86469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Isabelle/ML: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Extending Sledgehammer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ML (SML):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Isabelle implementation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automation and data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580805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3839766"/>
            <a:ext cx="8382000" cy="5637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control: Git, GitHub</a:t>
            </a:r>
            <a:endParaRPr lang="en-US" sz="1050" dirty="0"/>
          </a:p>
          <a:p>
            <a:pPr marL="142875" indent="-142875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LaTeX, Markdown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2366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Operating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71600"/>
            <a:ext cx="40805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Hardware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939230"/>
            <a:ext cx="40005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Processor: ARM or x86</a:t>
            </a:r>
          </a:p>
        </p:txBody>
      </p:sp>
      <p:sp>
        <p:nvSpPr>
          <p:cNvPr id="6" name="Text 4"/>
          <p:cNvSpPr/>
          <p:nvPr/>
        </p:nvSpPr>
        <p:spPr>
          <a:xfrm>
            <a:off x="4762500" y="1371600"/>
            <a:ext cx="408051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Operating Systems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0" y="1939230"/>
            <a:ext cx="4000500" cy="126474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11+</a:t>
            </a:r>
            <a:endParaRPr lang="en-US" sz="1200" dirty="0"/>
          </a:p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zh-CN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(Ubuntu 20.04 / 22.04 LTS)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470672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Environments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790652"/>
            <a:ext cx="8382000" cy="8304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 testing and development</a:t>
            </a:r>
            <a:endParaRPr lang="en-US" sz="1200" dirty="0"/>
          </a:p>
          <a:p>
            <a:pPr marL="142875" indent="-142875">
              <a:lnSpc>
                <a:spcPts val="192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cluster for benchmarking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44811"/>
            <a:ext cx="8382000" cy="1035844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Literature review and code analysis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test suites for interface verification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profiling and bottleneck identification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Prototype improvements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494955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753916"/>
            <a:ext cx="8382000" cy="1035844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testing: Individual Sledgehammer components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testing: Isabelle ↔ External prover communication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testing on proof libraries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testing to ensure stability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20-Week Project Schedule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314450"/>
            <a:ext cx="8382000" cy="130433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1-4: Literature review and code analysis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5-8: Test suite design and development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9-12: Performance profiling and analysis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13-16: Prototype implementation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17-20: Thesis writing and final documentation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71403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942630"/>
            <a:ext cx="8382000" cy="130433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Architecture documentation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Test framework completed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12: Performance analysis report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16: Prototype implementation</a:t>
            </a:r>
            <a:endParaRPr lang="en-US" sz="975" dirty="0"/>
          </a:p>
          <a:p>
            <a:pPr marL="142875" indent="-142875" algn="l">
              <a:lnSpc>
                <a:spcPts val="1365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20: Final thesis submission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85850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23825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Architecture Documentation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143634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Isabelle-Sledgehammer-Prover interface (Week 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758255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1758255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1910655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Test Suite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300" y="210874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harness for interface verification (Week 8)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430661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430661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300" y="2583061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Performance Report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" y="2781151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data and optimization recommendations (Week 12)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103066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03066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300" y="325546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Prototype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" y="3453557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 of improvements (Week 16)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775472"/>
            <a:ext cx="8382000" cy="615255"/>
          </a:xfrm>
          <a:prstGeom prst="roundRect">
            <a:avLst>
              <a:gd name="adj" fmla="val 464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775472"/>
            <a:ext cx="0" cy="61525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300" y="3927872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D5: Final Thesis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300" y="4125962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research thesis with conclusions (Week 20)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Approval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4481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REQUIRED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This project is technical research on software tools only.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954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involvement in: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813322"/>
            <a:ext cx="8382000" cy="86469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participants or subject research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collection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Potentially harmful applications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92313"/>
            <a:ext cx="8382000" cy="1557933"/>
          </a:xfrm>
          <a:prstGeom prst="roundRect">
            <a:avLst>
              <a:gd name="adj" fmla="val 183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92313"/>
            <a:ext cx="0" cy="155793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887563"/>
            <a:ext cx="831646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Integrity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4350" y="3146524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adheres to standard ethics principles: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3390305"/>
            <a:ext cx="8153400" cy="86469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attribution and citations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methodology</a:t>
            </a:r>
            <a:endParaRPr lang="en-US" sz="1050" dirty="0"/>
          </a:p>
          <a:p>
            <a:pPr marL="114300" indent="-114300" algn="l">
              <a:lnSpc>
                <a:spcPts val="147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95350"/>
            <a:ext cx="8382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5294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0150"/>
            <a:ext cx="41533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668661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668661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5775" y="1782961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 understanding of theorem proving required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387798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387798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775" y="2502098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Managing multiple external tools and versions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106936"/>
            <a:ext cx="4071938" cy="414338"/>
          </a:xfrm>
          <a:prstGeom prst="roundRect">
            <a:avLst>
              <a:gd name="adj" fmla="val 45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3106936"/>
            <a:ext cx="0" cy="414338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5775" y="3221236"/>
            <a:ext cx="39687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Measuring and profiling large-scale operations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91063" y="1414463"/>
            <a:ext cx="41533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1063" y="1863923"/>
            <a:ext cx="4071938" cy="146208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literature review and expert consultation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implementation approach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and validation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progress reviews with supervisors</a:t>
            </a:r>
            <a:endParaRPr lang="en-US" sz="975" dirty="0"/>
          </a:p>
          <a:p>
            <a:pPr marL="114300" indent="-114300" algn="l">
              <a:lnSpc>
                <a:spcPts val="1463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documentation throughout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32595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18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937445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2574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and verify the Isabelle-Sledgehammer interface for enhanced proof automation.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609850"/>
            <a:ext cx="854964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948880"/>
            <a:ext cx="8382000" cy="9048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literature review and setup environment (Weeks 1-2)</a:t>
            </a:r>
            <a:endParaRPr lang="en-US" sz="1050" dirty="0"/>
          </a:p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Sledgehammer code analysis (Week 3)</a:t>
            </a:r>
            <a:endParaRPr lang="en-US" sz="1050" dirty="0"/>
          </a:p>
          <a:p>
            <a:pPr marL="114300" indent="-1143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test framework (Week 4)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Macintosh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Qilan Lin</cp:lastModifiedBy>
  <cp:revision>5</cp:revision>
  <dcterms:created xsi:type="dcterms:W3CDTF">2025-11-12T11:48:31Z</dcterms:created>
  <dcterms:modified xsi:type="dcterms:W3CDTF">2025-11-12T11:51:15Z</dcterms:modified>
</cp:coreProperties>
</file>