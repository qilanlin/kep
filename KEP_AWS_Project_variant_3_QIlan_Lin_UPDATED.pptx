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999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7308" y="899368"/>
            <a:ext cx="6509385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spcBef>
                <a:spcPts val="1500"/>
              </a:spcBef>
              <a:spcAft>
                <a:spcPts val="225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Between Isabelle and External Provers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45605" y="2564160"/>
            <a:ext cx="305264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via Sledgehammer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354832" y="3505200"/>
            <a:ext cx="24341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 Project - Variation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54832" y="3908971"/>
            <a:ext cx="24341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  <a:spcBef>
                <a:spcPts val="1500"/>
              </a:spcBef>
              <a:spcAft>
                <a:spcPts val="600"/>
              </a:spcAft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Qilan Lin</a:t>
            </a:r>
            <a:endParaRPr lang="en-US" sz="1050" dirty="0"/>
          </a:p>
          <a:p>
            <a:pPr marL="0" indent="0" algn="ctr">
              <a:lnSpc>
                <a:spcPts val="1470"/>
              </a:lnSpc>
              <a:spcBef>
                <a:spcPts val="1500"/>
              </a:spcBef>
              <a:spcAft>
                <a:spcPts val="600"/>
              </a:spcAft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54832" y="4171801"/>
            <a:ext cx="24341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K21204786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53921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20015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1543050"/>
            <a:ext cx="8382000" cy="126474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r>
              <a:rPr sz="1800"/>
              <a:t>Isabelle is a powerful proof assistant, but some proofs require external automated reasoning</a:t>
            </a:r>
          </a:p>
          <a:p>
            <a:r>
              <a:rPr sz="1800"/>
              <a:t>Sledgehammer acts as a bridge to external provers (e.g., Z3, CVC4, E)</a:t>
            </a:r>
          </a:p>
          <a:p>
            <a:r>
              <a:rPr sz="1800"/>
              <a:t>Integration between Isabelle and external tools needs optimization and verification</a:t>
            </a:r>
          </a:p>
          <a:p>
            <a:r>
              <a:rPr sz="1800"/>
              <a:t>Lacks systematic fuzz-based robustness testing; corner-case failures may be hidden</a:t>
            </a:r>
          </a:p>
        </p:txBody>
      </p:sp>
      <p:sp>
        <p:nvSpPr>
          <p:cNvPr id="6" name="Text 4"/>
          <p:cNvSpPr/>
          <p:nvPr/>
        </p:nvSpPr>
        <p:spPr>
          <a:xfrm>
            <a:off x="381000" y="2998291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3341191"/>
            <a:ext cx="8382000" cy="126474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proof automation efficiency in formal verification</a:t>
            </a:r>
            <a:endParaRPr lang="en-US" sz="1200" dirty="0"/>
          </a:p>
          <a:p>
            <a:pPr marL="142875" indent="-142875" algn="l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reliability of automated reasoning within theorem proving</a:t>
            </a:r>
            <a:endParaRPr lang="en-US" sz="1200" dirty="0"/>
          </a:p>
          <a:p>
            <a:pPr marL="142875" indent="-142875" algn="l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Advances the state of formal methods in software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352550"/>
            <a:ext cx="412908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200"/>
              </a:spcBef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1901130"/>
            <a:ext cx="4048125" cy="17145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architecture between Isabelle and external provers</a:t>
            </a:r>
            <a:endParaRPr lang="en-US" sz="1125" dirty="0"/>
          </a:p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Sledgehammer's interface design and optimization</a:t>
            </a:r>
            <a:endParaRPr lang="en-US" sz="1125" dirty="0"/>
          </a:p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verification procedures</a:t>
            </a:r>
            <a:endParaRPr lang="en-US" sz="1125" dirty="0"/>
          </a:p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characteristics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714875" y="1466850"/>
            <a:ext cx="412908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200"/>
              </a:spcBef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14875" y="2015430"/>
            <a:ext cx="4048125" cy="1485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of new prover algorithms</a:t>
            </a:r>
            <a:endParaRPr lang="en-US" sz="1125" dirty="0"/>
          </a:p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Modification of external prover implementations</a:t>
            </a:r>
            <a:endParaRPr lang="en-US" sz="1125" dirty="0"/>
          </a:p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strategy optimization beyond interface concerns</a:t>
            </a:r>
            <a:endParaRPr lang="en-US" sz="1125" dirty="0"/>
          </a:p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Isabelle framework redesign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&amp; Objectives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854964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Aim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1386780"/>
            <a:ext cx="854964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and optimize the interface between Isabelle and external automated provers through Sledgehammer.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1696343"/>
            <a:ext cx="8382000" cy="2420243"/>
          </a:xfrm>
          <a:prstGeom prst="roundRect">
            <a:avLst>
              <a:gd name="adj" fmla="val 118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1696343"/>
            <a:ext cx="0" cy="2420243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3400" y="1943993"/>
            <a:ext cx="827760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3400" y="2225873"/>
            <a:ext cx="8115300" cy="1700213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r>
              <a:rPr sz="1800"/>
              <a:t>O1: Document current interface architecture and design patterns</a:t>
            </a:r>
          </a:p>
          <a:p>
            <a:r>
              <a:rPr sz="1800"/>
              <a:t>O2: Identify performance bottlenecks and optimization opportunities</a:t>
            </a:r>
          </a:p>
          <a:p>
            <a:r>
              <a:rPr sz="1800"/>
              <a:t>O3: Build or significantly extend a coverage-guided fuzzer targeting the Isabelle↔Sledgehammer↔prover interface</a:t>
            </a:r>
          </a:p>
          <a:p>
            <a:r>
              <a:rPr sz="1800"/>
              <a:t>O4: Design test suites and regression benchmarks for interface reliability</a:t>
            </a:r>
          </a:p>
          <a:p>
            <a:r>
              <a:rPr sz="1800"/>
              <a:t>O5: Propose enhancements to the integration mechanism</a:t>
            </a:r>
          </a:p>
          <a:p>
            <a:r>
              <a:rPr sz="1800"/>
              <a:t>O6: Evaluate improvements via bugs found, coverage gain, throughput, and reconstruction success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55086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&amp; Bibliography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References - Sledgehammer &amp; SMT Integration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283940"/>
            <a:ext cx="8382000" cy="397073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r>
              <a:rPr sz="1800"/>
              <a:t>Blanchette, J.C., Böhme, S., Paulson, L.C. (2013). "Extending Sledgehammer with SMT Solvers." Journal of Automated Reasoning, 51(1): 109-128.</a:t>
            </a:r>
          </a:p>
          <a:p>
            <a:r>
              <a:rPr sz="1800"/>
              <a:t>de Moura, L., &amp; Bjørner, N. (2008). "Z3: An Efficient SMT Solver." TACAS 2008, LNCS 4963: 337-340.</a:t>
            </a:r>
          </a:p>
          <a:p>
            <a:r>
              <a:rPr sz="1800"/>
              <a:t>Blanchette, J. (2025). "Sledgehammer Manual" (Mirabelle benchmarking &amp; TPTP/SMT-LIB export).</a:t>
            </a:r>
          </a:p>
        </p:txBody>
      </p:sp>
      <p:sp>
        <p:nvSpPr>
          <p:cNvPr id="6" name="Text 4"/>
          <p:cNvSpPr/>
          <p:nvPr/>
        </p:nvSpPr>
        <p:spPr>
          <a:xfrm>
            <a:off x="381000" y="1776264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Isabelle &amp; Proof Automation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993404"/>
            <a:ext cx="8382000" cy="397073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r>
              <a:rPr sz="1800"/>
              <a:t>Nipkow, T., Paulson, L.C., &amp; Wenzel, M. (2002). "Isabelle/HOL: A Proof Assistant." Springer-Verlag, LNCS 2283.</a:t>
            </a:r>
          </a:p>
          <a:p>
            <a:r>
              <a:rPr sz="1800"/>
              <a:t>Blanchette, J.C. (2018). "Hammering Away: A Guide to Sledgehammer for Isabelle/HOL." TUM Institute.</a:t>
            </a:r>
          </a:p>
          <a:p>
            <a:r>
              <a:rPr sz="1800"/>
              <a:t>Lachnitt, H. et al. (2025). "Improving the SMT Proof Reconstruction Pipeline in Isabelle/HOL." ITP 2025.</a:t>
            </a:r>
          </a:p>
        </p:txBody>
      </p:sp>
      <p:sp>
        <p:nvSpPr>
          <p:cNvPr id="8" name="Text 6"/>
          <p:cNvSpPr/>
          <p:nvPr/>
        </p:nvSpPr>
        <p:spPr>
          <a:xfrm>
            <a:off x="381000" y="2485727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Methods Research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702868"/>
            <a:ext cx="8382000" cy="397073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marL="104775" indent="-104775" algn="l">
              <a:lnSpc>
                <a:spcPts val="1114"/>
              </a:lnSpc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theorem proving and proof search strategies</a:t>
            </a:r>
            <a:endParaRPr lang="en-US" sz="825" dirty="0"/>
          </a:p>
          <a:p>
            <a:pPr marL="104775" indent="-104775" algn="l">
              <a:lnSpc>
                <a:spcPts val="1114"/>
              </a:lnSpc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 solver integration and backend prover selection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60624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Platform &amp; Technical Stack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Tools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363861"/>
            <a:ext cx="8382000" cy="86469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r>
              <a:rPr sz="1800"/>
              <a:t>Isabelle: Theorem prover and proof assistant</a:t>
            </a:r>
          </a:p>
          <a:p>
            <a:r>
              <a:rPr sz="1800"/>
              <a:t>Sledgehammer: Proof automation tool</a:t>
            </a:r>
          </a:p>
          <a:p>
            <a:r>
              <a:rPr sz="1800"/>
              <a:t>External Provers: Z3, CVC4, E, SPASS</a:t>
            </a:r>
          </a:p>
          <a:p>
            <a:r>
              <a:rPr sz="1800"/>
              <a:t>Fuzzing framework: AFL++ / LibFuzzer (corpus-based); Coverage tools: llvm-cov / gcov</a:t>
            </a:r>
          </a:p>
        </p:txBody>
      </p:sp>
      <p:sp>
        <p:nvSpPr>
          <p:cNvPr id="6" name="Text 4"/>
          <p:cNvSpPr/>
          <p:nvPr/>
        </p:nvSpPr>
        <p:spPr>
          <a:xfrm>
            <a:off x="381000" y="2342852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2601813"/>
            <a:ext cx="8382000" cy="86469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Isabelle/ML: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Extending Sledgehammer</a:t>
            </a:r>
            <a:endParaRPr lang="en-US" sz="1050" dirty="0"/>
          </a:p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ML (SML):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Isabelle implementation</a:t>
            </a:r>
            <a:endParaRPr lang="en-US" sz="1050" dirty="0"/>
          </a:p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automation and data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3580805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Environment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000" y="3839766"/>
            <a:ext cx="8382000" cy="5637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control: Git, GitHub</a:t>
            </a:r>
            <a:endParaRPr lang="en-US" sz="1050" dirty="0"/>
          </a:p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 LaTeX, Markdown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52366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Operating Systems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371600"/>
            <a:ext cx="408051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Hardware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1939230"/>
            <a:ext cx="4000500" cy="126474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>
              <a:lnSpc>
                <a:spcPts val="192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Processor: ARM or x86</a:t>
            </a:r>
          </a:p>
        </p:txBody>
      </p:sp>
      <p:sp>
        <p:nvSpPr>
          <p:cNvPr id="6" name="Text 4"/>
          <p:cNvSpPr/>
          <p:nvPr/>
        </p:nvSpPr>
        <p:spPr>
          <a:xfrm>
            <a:off x="4762500" y="1371600"/>
            <a:ext cx="408051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Operating Systems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0" y="1939230"/>
            <a:ext cx="4000500" cy="126474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>
              <a:lnSpc>
                <a:spcPts val="192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11+</a:t>
            </a:r>
            <a:endParaRPr lang="en-US" sz="1200" dirty="0"/>
          </a:p>
          <a:p>
            <a:pPr marL="142875" indent="-142875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r>
              <a:rPr lang="zh-CN" alt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(Ubuntu 20.04 / 22.04 LTS)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3470672"/>
            <a:ext cx="854964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Environments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1000" y="3790652"/>
            <a:ext cx="8382000" cy="8304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machine testing and development</a:t>
            </a:r>
            <a:endParaRPr lang="en-US" sz="1200" dirty="0"/>
          </a:p>
          <a:p>
            <a:pPr marL="142875" indent="-142875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 cluster for benchmarking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085850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344811"/>
            <a:ext cx="8382000" cy="1035844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r>
              <a:rPr sz="1800"/>
              <a:t>Phase 1: Literature review and pipeline/code analysis</a:t>
            </a:r>
          </a:p>
          <a:p>
            <a:r>
              <a:rPr sz="1800"/>
              <a:t>Phase 2: Corpus collection via Mirabelle (export SMT-LIB/TPTP problems)</a:t>
            </a:r>
          </a:p>
          <a:p>
            <a:r>
              <a:rPr sz="1800"/>
              <a:t>Phase 3: Coverage-guided fuzzing campaign on translation/parsing/reconstruction</a:t>
            </a:r>
          </a:p>
          <a:p>
            <a:r>
              <a:rPr sz="1800"/>
              <a:t>Phase 4: Prototype improvements and re-benchmarking</a:t>
            </a:r>
          </a:p>
        </p:txBody>
      </p:sp>
      <p:sp>
        <p:nvSpPr>
          <p:cNvPr id="6" name="Text 4"/>
          <p:cNvSpPr/>
          <p:nvPr/>
        </p:nvSpPr>
        <p:spPr>
          <a:xfrm>
            <a:off x="381000" y="2494955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2753916"/>
            <a:ext cx="8382000" cy="1035844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r>
              <a:rPr sz="1800"/>
              <a:t>Unit testing: Individual Sledgehammer components</a:t>
            </a:r>
          </a:p>
          <a:p>
            <a:r>
              <a:rPr sz="1800"/>
              <a:t>Integration testing: Isabelle ↔ External prover communication</a:t>
            </a:r>
          </a:p>
          <a:p>
            <a:r>
              <a:rPr sz="1800"/>
              <a:t>Benchmark testing on proof libraries</a:t>
            </a:r>
          </a:p>
          <a:p>
            <a:r>
              <a:rPr sz="1800"/>
              <a:t>Regression testing to ensure stability</a:t>
            </a:r>
          </a:p>
          <a:p>
            <a:r>
              <a:rPr sz="1800"/>
              <a:t>Fuzz testing: corpus-based, structure-aware mutation of SMT-LIB/TPTP problems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085850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20-Week Project Schedule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1314450"/>
            <a:ext cx="8382000" cy="130433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r>
              <a:rPr sz="1800"/>
              <a:t>Weeks 1-4: Literature review and pipeline/code analysis</a:t>
            </a:r>
          </a:p>
          <a:p>
            <a:r>
              <a:rPr sz="1800"/>
              <a:t>Weeks 5-8: Corpus export + fuzzer harness/mutator implementation</a:t>
            </a:r>
          </a:p>
          <a:p>
            <a:r>
              <a:rPr sz="1800"/>
              <a:t>Weeks 9-12: Fuzzing campaign + coverage/bug/throughput analysis</a:t>
            </a:r>
          </a:p>
          <a:p>
            <a:r>
              <a:rPr sz="1800"/>
              <a:t>Weeks 13-16: Prototype implementation and re-benchmarking</a:t>
            </a:r>
          </a:p>
          <a:p>
            <a:r>
              <a:rPr sz="1800"/>
              <a:t>Weeks 17-20: Thesis writing and final documentation</a:t>
            </a:r>
          </a:p>
        </p:txBody>
      </p:sp>
      <p:sp>
        <p:nvSpPr>
          <p:cNvPr id="6" name="Text 4"/>
          <p:cNvSpPr/>
          <p:nvPr/>
        </p:nvSpPr>
        <p:spPr>
          <a:xfrm>
            <a:off x="381000" y="2714030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942630"/>
            <a:ext cx="8382000" cy="130433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r>
              <a:rPr sz="1800"/>
              <a:t>Week 4: Architecture documentation</a:t>
            </a:r>
          </a:p>
          <a:p>
            <a:r>
              <a:rPr sz="1800"/>
              <a:t>Week 8: Fuzzer + corpus ready</a:t>
            </a:r>
          </a:p>
          <a:p>
            <a:r>
              <a:rPr sz="1800"/>
              <a:t>Week 12: Fuzzing &amp; performance report</a:t>
            </a:r>
          </a:p>
          <a:p>
            <a:r>
              <a:rPr sz="1800"/>
              <a:t>Week 16: Prototype implementation</a:t>
            </a:r>
          </a:p>
          <a:p>
            <a:r>
              <a:rPr sz="1800"/>
              <a:t>Week 20: Final thesis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Deliverables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085850"/>
            <a:ext cx="8382000" cy="615255"/>
          </a:xfrm>
          <a:prstGeom prst="roundRect">
            <a:avLst>
              <a:gd name="adj" fmla="val 464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085850"/>
            <a:ext cx="0" cy="615255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5300" y="123825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D1: Architecture Documentation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" y="143634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Isabelle-Sledgehammer-Prover interface (Week 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1758255"/>
            <a:ext cx="8382000" cy="615255"/>
          </a:xfrm>
          <a:prstGeom prst="roundRect">
            <a:avLst>
              <a:gd name="adj" fmla="val 464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1758255"/>
            <a:ext cx="0" cy="615255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5300" y="1910655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800"/>
              <a:t>D2: Fuzzer &amp; Corpus</a:t>
            </a:r>
          </a:p>
        </p:txBody>
      </p:sp>
      <p:sp>
        <p:nvSpPr>
          <p:cNvPr id="11" name="Text 9"/>
          <p:cNvSpPr/>
          <p:nvPr/>
        </p:nvSpPr>
        <p:spPr>
          <a:xfrm>
            <a:off x="495300" y="2108746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800"/>
              <a:t>Coverage-guided fuzzer + exported SMT-LIB/TPTP corpus and automation harness (Week 8)</a:t>
            </a:r>
          </a:p>
        </p:txBody>
      </p:sp>
      <p:sp>
        <p:nvSpPr>
          <p:cNvPr id="12" name="Text 10"/>
          <p:cNvSpPr/>
          <p:nvPr/>
        </p:nvSpPr>
        <p:spPr>
          <a:xfrm>
            <a:off x="381000" y="2430661"/>
            <a:ext cx="8382000" cy="615255"/>
          </a:xfrm>
          <a:prstGeom prst="roundRect">
            <a:avLst>
              <a:gd name="adj" fmla="val 464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2430661"/>
            <a:ext cx="0" cy="615255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5300" y="2583061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800"/>
              <a:t>D3: Fuzzing &amp; Performance Report</a:t>
            </a:r>
          </a:p>
        </p:txBody>
      </p:sp>
      <p:sp>
        <p:nvSpPr>
          <p:cNvPr id="15" name="Text 13"/>
          <p:cNvSpPr/>
          <p:nvPr/>
        </p:nvSpPr>
        <p:spPr>
          <a:xfrm>
            <a:off x="495300" y="2781151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800"/>
              <a:t>Bugs found, coverage gain vs baseline, throughput, and reconstruction-success impact (Week 12)</a:t>
            </a:r>
          </a:p>
        </p:txBody>
      </p:sp>
      <p:sp>
        <p:nvSpPr>
          <p:cNvPr id="16" name="Text 14"/>
          <p:cNvSpPr/>
          <p:nvPr/>
        </p:nvSpPr>
        <p:spPr>
          <a:xfrm>
            <a:off x="381000" y="3103066"/>
            <a:ext cx="8382000" cy="615255"/>
          </a:xfrm>
          <a:prstGeom prst="roundRect">
            <a:avLst>
              <a:gd name="adj" fmla="val 464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103066"/>
            <a:ext cx="0" cy="615255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5300" y="3255466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D4: Prototype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5300" y="3453557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implementation of improvements (Week 16)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3775472"/>
            <a:ext cx="8382000" cy="615255"/>
          </a:xfrm>
          <a:prstGeom prst="roundRect">
            <a:avLst>
              <a:gd name="adj" fmla="val 464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00050" y="3775472"/>
            <a:ext cx="0" cy="615255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5300" y="3927872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D5: Final Thesis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5300" y="4125962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research thesis with conclusions (Week 20)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Considerations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085850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Approval 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344811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REQUIRED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This project is technical research on software tools only.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569541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involvement in: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813322"/>
            <a:ext cx="8382000" cy="86469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participants or subject research</a:t>
            </a:r>
            <a:endParaRPr lang="en-US" sz="1050" dirty="0"/>
          </a:p>
          <a:p>
            <a:pPr marL="114300" indent="-114300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data collection</a:t>
            </a:r>
            <a:endParaRPr lang="en-US" sz="1050" dirty="0"/>
          </a:p>
          <a:p>
            <a:pPr marL="114300" indent="-114300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Potentially harmful applications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792313"/>
            <a:ext cx="8382000" cy="1557933"/>
          </a:xfrm>
          <a:prstGeom prst="roundRect">
            <a:avLst>
              <a:gd name="adj" fmla="val 183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792313"/>
            <a:ext cx="0" cy="1557933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4350" y="2887563"/>
            <a:ext cx="831646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Integrity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4350" y="3146524"/>
            <a:ext cx="83164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adheres to standard ethics principles: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4350" y="3390305"/>
            <a:ext cx="8153400" cy="86469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attribution and citations</a:t>
            </a:r>
            <a:endParaRPr lang="en-US" sz="1050" dirty="0"/>
          </a:p>
          <a:p>
            <a:pPr marL="114300" indent="-114300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methodology</a:t>
            </a:r>
            <a:endParaRPr lang="en-US" sz="1050" dirty="0"/>
          </a:p>
          <a:p>
            <a:pPr marL="114300" indent="-114300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reporting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52949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Risk Management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200150"/>
            <a:ext cx="41533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668661"/>
            <a:ext cx="4071938" cy="414338"/>
          </a:xfrm>
          <a:prstGeom prst="roundRect">
            <a:avLst>
              <a:gd name="adj" fmla="val 459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1668661"/>
            <a:ext cx="0" cy="414338"/>
          </a:xfrm>
          <a:prstGeom prst="line">
            <a:avLst/>
          </a:prstGeom>
          <a:noFill/>
          <a:ln w="2857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5775" y="1782961"/>
            <a:ext cx="39687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Deep understanding of theorem proving required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387798"/>
            <a:ext cx="4071938" cy="414338"/>
          </a:xfrm>
          <a:prstGeom prst="roundRect">
            <a:avLst>
              <a:gd name="adj" fmla="val 459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387798"/>
            <a:ext cx="0" cy="414338"/>
          </a:xfrm>
          <a:prstGeom prst="line">
            <a:avLst/>
          </a:prstGeom>
          <a:noFill/>
          <a:ln w="2857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5775" y="2502098"/>
            <a:ext cx="39687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Managing multiple external tools and versions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3106936"/>
            <a:ext cx="4071938" cy="414338"/>
          </a:xfrm>
          <a:prstGeom prst="roundRect">
            <a:avLst>
              <a:gd name="adj" fmla="val 459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5288" y="3106936"/>
            <a:ext cx="0" cy="414338"/>
          </a:xfrm>
          <a:prstGeom prst="line">
            <a:avLst/>
          </a:prstGeom>
          <a:noFill/>
          <a:ln w="2857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5775" y="3221236"/>
            <a:ext cx="39687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Measuring and profiling large-scale operations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91063" y="1414463"/>
            <a:ext cx="41533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1063" y="1863923"/>
            <a:ext cx="4071938" cy="146208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463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literature review and expert consultation</a:t>
            </a:r>
            <a:endParaRPr lang="en-US" sz="975" dirty="0"/>
          </a:p>
          <a:p>
            <a:pPr marL="114300" indent="-114300" algn="l">
              <a:lnSpc>
                <a:spcPts val="1463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implementation approach</a:t>
            </a:r>
            <a:endParaRPr lang="en-US" sz="975" dirty="0"/>
          </a:p>
          <a:p>
            <a:pPr marL="114300" indent="-114300" algn="l">
              <a:lnSpc>
                <a:spcPts val="1463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 and validation</a:t>
            </a:r>
            <a:endParaRPr lang="en-US" sz="975" dirty="0"/>
          </a:p>
          <a:p>
            <a:pPr marL="114300" indent="-114300" algn="l">
              <a:lnSpc>
                <a:spcPts val="1463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progress reviews with supervisors</a:t>
            </a:r>
            <a:endParaRPr lang="en-US" sz="975" dirty="0"/>
          </a:p>
          <a:p>
            <a:pPr marL="114300" indent="-114300" algn="l">
              <a:lnSpc>
                <a:spcPts val="1463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documentation throughout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232595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spcAft>
                <a:spcPts val="1800"/>
              </a:spcAft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1937445"/>
            <a:ext cx="854964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Vision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225742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and verify the Isabelle-Sledgehammer interface for enhanced proof automation.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609850"/>
            <a:ext cx="854964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Next Steps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948880"/>
            <a:ext cx="8382000" cy="90487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57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literature review and setup environment (Weeks 1-2)</a:t>
            </a:r>
            <a:endParaRPr lang="en-US" sz="1050" dirty="0"/>
          </a:p>
          <a:p>
            <a:pPr marL="114300" indent="-114300" algn="l">
              <a:lnSpc>
                <a:spcPts val="157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Sledgehammer code analysis (Week 3)</a:t>
            </a:r>
            <a:endParaRPr lang="en-US" sz="1050" dirty="0"/>
          </a:p>
          <a:p>
            <a:pPr marL="114300" indent="-114300" algn="l">
              <a:lnSpc>
                <a:spcPts val="157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test framework (Week 4)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812</Words>
  <Application>Microsoft Macintosh PowerPoint</Application>
  <PresentationFormat>On-screen Show (16:9)</PresentationFormat>
  <Paragraphs>143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Qilan Lin</cp:lastModifiedBy>
  <cp:revision>5</cp:revision>
  <dcterms:created xsi:type="dcterms:W3CDTF">2025-11-12T11:48:31Z</dcterms:created>
  <dcterms:modified xsi:type="dcterms:W3CDTF">2025-11-12T11:51:15Z</dcterms:modified>
</cp:coreProperties>
</file>